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/>
            </a:pPr>
            <a:r>
              <a:t>System Architecture: RL-Enhanced MPC Framework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97280"/>
            <a:ext cx="2560320" cy="2011680"/>
          </a:xfrm>
          <a:prstGeom prst="roundRect">
            <a:avLst/>
          </a:prstGeom>
          <a:solidFill>
            <a:srgbClr val="E3F2FD"/>
          </a:solidFill>
          <a:ln w="38100"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D47A1"/>
                </a:solidFill>
              </a:defRPr>
            </a:pPr>
            <a:r>
              <a:t>RL Optimizer (PPO)</a:t>
            </a:r>
          </a:p>
          <a:p>
            <a:br/>
            <a:pPr algn="ctr">
              <a:defRPr sz="1200"/>
            </a:pPr>
            <a:r>
              <a:t>State Space (29D):</a:t>
            </a:r>
          </a:p>
          <a:p>
            <a:pPr algn="ctr">
              <a:defRPr sz="1100"/>
            </a:pPr>
            <a:r>
              <a:t>• Tracking errors</a:t>
            </a:r>
          </a:p>
          <a:p>
            <a:pPr algn="ctr">
              <a:defRPr sz="1100"/>
            </a:pPr>
            <a:r>
              <a:t>• Control effort</a:t>
            </a:r>
          </a:p>
          <a:p>
            <a:pPr algn="ctr">
              <a:defRPr sz="1100"/>
            </a:pPr>
            <a:r>
              <a:t>• Current hyperparameters</a:t>
            </a:r>
          </a:p>
          <a:p>
            <a:br/>
            <a:pPr algn="ctr">
              <a:defRPr sz="1200" b="1"/>
            </a:pPr>
            <a:r>
              <a:t>Action: Q, R, N (17D)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291840" y="1097280"/>
            <a:ext cx="2560320" cy="2011680"/>
          </a:xfrm>
          <a:prstGeom prst="roundRect">
            <a:avLst/>
          </a:prstGeom>
          <a:solidFill>
            <a:srgbClr val="E8F5E9"/>
          </a:solidFill>
          <a:ln w="38100">
            <a:solidFill>
              <a:srgbClr val="388E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B5E20"/>
                </a:solidFill>
              </a:defRPr>
            </a:pPr>
            <a:r>
              <a:t>MPC Controller</a:t>
            </a:r>
          </a:p>
          <a:p>
            <a:pPr algn="ctr">
              <a:defRPr sz="1100"/>
            </a:pPr>
            <a:r>
              <a:t>(CasADi/IPOPT)</a:t>
            </a:r>
          </a:p>
          <a:p>
            <a:br/>
            <a:pPr algn="ctr">
              <a:defRPr sz="1200"/>
            </a:pPr>
            <a:r>
              <a:t>Optimization:</a:t>
            </a:r>
          </a:p>
          <a:p>
            <a:pPr algn="ctr">
              <a:defRPr sz="1100"/>
            </a:pPr>
            <a:r>
              <a:t>• Cost function J(Q,R,N)</a:t>
            </a:r>
          </a:p>
          <a:p>
            <a:pPr algn="ctr">
              <a:defRPr sz="1100"/>
            </a:pPr>
            <a:r>
              <a:t>• Dynamics constraints</a:t>
            </a:r>
          </a:p>
          <a:p>
            <a:pPr algn="ctr">
              <a:defRPr sz="1100"/>
            </a:pPr>
            <a:r>
              <a:t>• Control limits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26480" y="1097280"/>
            <a:ext cx="2560320" cy="2011680"/>
          </a:xfrm>
          <a:prstGeom prst="roundRect">
            <a:avLst/>
          </a:prstGeom>
          <a:solidFill>
            <a:srgbClr val="FFF3E0"/>
          </a:solidFill>
          <a:ln w="38100">
            <a:solidFill>
              <a:srgbClr val="F57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E65100"/>
                </a:solidFill>
              </a:defRPr>
            </a:pPr>
            <a:r>
              <a:t>UAV Environment</a:t>
            </a:r>
          </a:p>
          <a:p>
            <a:pPr algn="ctr">
              <a:defRPr sz="1100"/>
            </a:pPr>
            <a:r>
              <a:t>(PyBullet)</a:t>
            </a:r>
          </a:p>
          <a:p>
            <a:br/>
            <a:pPr algn="ctr">
              <a:defRPr sz="1200"/>
            </a:pPr>
            <a:r>
              <a:t>State Space (12D):</a:t>
            </a:r>
          </a:p>
          <a:p>
            <a:pPr algn="ctr">
              <a:defRPr sz="1100"/>
            </a:pPr>
            <a:r>
              <a:t>• Position [x, y, z]</a:t>
            </a:r>
          </a:p>
          <a:p>
            <a:pPr algn="ctr">
              <a:defRPr sz="1100"/>
            </a:pPr>
            <a:r>
              <a:t>• Velocity [vx, vy, vz]</a:t>
            </a:r>
          </a:p>
          <a:p>
            <a:pPr algn="ctr">
              <a:defRPr sz="1100"/>
            </a:pPr>
            <a:r>
              <a:t>• Angles &amp; Rates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017520" y="2011680"/>
            <a:ext cx="274320" cy="0"/>
          </a:xfrm>
          <a:prstGeom prst="line">
            <a:avLst/>
          </a:prstGeom>
          <a:ln w="38100">
            <a:solidFill>
              <a:srgbClr val="1976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3017520" y="1645920"/>
            <a:ext cx="274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976D2"/>
                </a:solidFill>
              </a:defRPr>
            </a:pPr>
            <a:r>
              <a:t>Q, R, N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852160" y="2011680"/>
            <a:ext cx="274320" cy="0"/>
          </a:xfrm>
          <a:prstGeom prst="line">
            <a:avLst/>
          </a:prstGeom>
          <a:ln w="38100">
            <a:solidFill>
              <a:srgbClr val="1976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852160" y="1645920"/>
            <a:ext cx="274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976D2"/>
                </a:solidFill>
              </a:defRPr>
            </a:pPr>
            <a:r>
              <a:t>u(t)</a:t>
            </a:r>
          </a:p>
        </p:txBody>
      </p:sp>
      <p:cxnSp>
        <p:nvCxnSpPr>
          <p:cNvPr id="10" name="Connector 9"/>
          <p:cNvCxnSpPr/>
          <p:nvPr/>
        </p:nvCxnSpPr>
        <p:spPr>
          <a:xfrm flipH="1">
            <a:off x="5852160" y="2743200"/>
            <a:ext cx="274320" cy="0"/>
          </a:xfrm>
          <a:prstGeom prst="line">
            <a:avLst/>
          </a:prstGeom>
          <a:ln w="38100">
            <a:solidFill>
              <a:srgbClr val="D32F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5852160" y="2926080"/>
            <a:ext cx="274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D32F2F"/>
                </a:solidFill>
              </a:defRPr>
            </a:pPr>
            <a:r>
              <a:t>x(t)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406640" y="3108960"/>
            <a:ext cx="0" cy="1005840"/>
          </a:xfrm>
          <a:prstGeom prst="line">
            <a:avLst/>
          </a:prstGeom>
          <a:ln w="38100">
            <a:solidFill>
              <a:srgbClr val="D32F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H="1">
            <a:off x="1737360" y="4114800"/>
            <a:ext cx="5669280" cy="0"/>
          </a:xfrm>
          <a:prstGeom prst="line">
            <a:avLst/>
          </a:prstGeom>
          <a:ln w="38100">
            <a:solidFill>
              <a:srgbClr val="D32F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1737360" y="3108960"/>
            <a:ext cx="0" cy="1005840"/>
          </a:xfrm>
          <a:prstGeom prst="line">
            <a:avLst/>
          </a:prstGeom>
          <a:ln w="38100">
            <a:solidFill>
              <a:srgbClr val="D32F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3200400" y="420624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D32F2F"/>
                </a:solidFill>
              </a:defRPr>
            </a:pPr>
            <a:r>
              <a:t>Performance Metrics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4754880"/>
            <a:ext cx="2560320" cy="1097280"/>
          </a:xfrm>
          <a:prstGeom prst="roundRect">
            <a:avLst/>
          </a:prstGeom>
          <a:solidFill>
            <a:srgbClr val="F5F5F5"/>
          </a:solidFill>
          <a:ln w="25400">
            <a:solidFill>
              <a:srgbClr val="1976D2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976D2"/>
                </a:solidFill>
              </a:defRPr>
            </a:pPr>
            <a:r>
              <a:t>PPO Algorithm</a:t>
            </a:r>
          </a:p>
          <a:p>
            <a:pPr algn="ctr">
              <a:defRPr sz="1000"/>
            </a:pPr>
            <a:r>
              <a:t>• 2 hidden layers (256 units)</a:t>
            </a:r>
          </a:p>
          <a:p>
            <a:pPr algn="ctr">
              <a:defRPr sz="1000"/>
            </a:pPr>
            <a:r>
              <a:t>• 4 parallel environments</a:t>
            </a:r>
          </a:p>
          <a:p>
            <a:pPr algn="ctr">
              <a:defRPr sz="1000"/>
            </a:pPr>
            <a:r>
              <a:t>• Learning rate: 3×10⁻⁴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291840" y="4754880"/>
            <a:ext cx="2560320" cy="1097280"/>
          </a:xfrm>
          <a:prstGeom prst="roundRect">
            <a:avLst/>
          </a:prstGeom>
          <a:solidFill>
            <a:srgbClr val="F5F5F5"/>
          </a:solidFill>
          <a:ln w="25400">
            <a:solidFill>
              <a:srgbClr val="388E3C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388E3C"/>
                </a:solidFill>
              </a:defRPr>
            </a:pPr>
            <a:r>
              <a:t>Real-Time MPC</a:t>
            </a:r>
          </a:p>
          <a:p>
            <a:pPr algn="ctr">
              <a:defRPr sz="1000"/>
            </a:pPr>
            <a:r>
              <a:t>• Solve time: 30-40ms</a:t>
            </a:r>
          </a:p>
          <a:p>
            <a:pPr algn="ctr">
              <a:defRPr sz="1000"/>
            </a:pPr>
            <a:r>
              <a:t>• Horizon N: 10 steps</a:t>
            </a:r>
          </a:p>
          <a:p>
            <a:pPr algn="ctr">
              <a:defRPr sz="1000"/>
            </a:pPr>
            <a:r>
              <a:t>• Update rate: 50Hz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26480" y="4754880"/>
            <a:ext cx="2560320" cy="1097280"/>
          </a:xfrm>
          <a:prstGeom prst="roundRect">
            <a:avLst/>
          </a:prstGeom>
          <a:solidFill>
            <a:srgbClr val="F5F5F5"/>
          </a:solidFill>
          <a:ln w="25400">
            <a:solidFill>
              <a:srgbClr val="F57C00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57C00"/>
                </a:solidFill>
              </a:defRPr>
            </a:pPr>
            <a:r>
              <a:t>High-Fidelity Simulation</a:t>
            </a:r>
          </a:p>
          <a:p>
            <a:pPr algn="ctr">
              <a:defRPr sz="1000"/>
            </a:pPr>
            <a:r>
              <a:t>• Physics Δt: 1ms</a:t>
            </a:r>
          </a:p>
          <a:p>
            <a:pPr algn="ctr">
              <a:defRPr sz="1000"/>
            </a:pPr>
            <a:r>
              <a:t>• Control Δt: 20ms</a:t>
            </a:r>
          </a:p>
          <a:p>
            <a:pPr algn="ctr">
              <a:defRPr sz="1000"/>
            </a:pPr>
            <a:r>
              <a:t>• RK4 integration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