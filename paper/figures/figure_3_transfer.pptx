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29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5130" y="274320"/>
            <a:ext cx="66337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Sequential Transfer Learning Across UAV Platforms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7315200" cy="1371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08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lang="en-GB" sz="2400" dirty="0">
                <a:solidFill>
                  <a:schemeClr val="tx1"/>
                </a:solidFill>
              </a:rPr>
              <a:t>Phase 1: </a:t>
            </a:r>
            <a:r>
              <a:rPr lang="en-GB" sz="2400" dirty="0" err="1">
                <a:solidFill>
                  <a:schemeClr val="tx1"/>
                </a:solidFill>
              </a:rPr>
              <a:t>Crazyflie</a:t>
            </a:r>
            <a:r>
              <a:rPr lang="en-GB" sz="2400" dirty="0">
                <a:solidFill>
                  <a:schemeClr val="tx1"/>
                </a:solidFill>
              </a:rPr>
              <a:t> 2.X (0.027 kg) - Base Training</a:t>
            </a:r>
          </a:p>
          <a:p>
            <a:pPr algn="ctr">
              <a:defRPr sz="1100"/>
            </a:pPr>
            <a:r>
              <a:rPr lang="en-GB" sz="1600" dirty="0">
                <a:solidFill>
                  <a:schemeClr val="tx1"/>
                </a:solidFill>
              </a:rPr>
              <a:t>Steps: 20,000 | Learning rate: 3×10⁻⁴ | Time: 200 min |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286000"/>
            <a:ext cx="0" cy="4572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743200"/>
            <a:ext cx="7315200" cy="1371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508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2400" dirty="0">
                <a:solidFill>
                  <a:schemeClr val="tx1"/>
                </a:solidFill>
              </a:rPr>
              <a:t>Phase 2: Racing Drone (0.800 kg) - Fine-Tuning</a:t>
            </a:r>
          </a:p>
          <a:p>
            <a:pPr algn="ctr">
              <a:defRPr sz="1100"/>
            </a:pPr>
            <a:r>
              <a:rPr sz="1400" dirty="0">
                <a:solidFill>
                  <a:schemeClr val="tx1"/>
                </a:solidFill>
              </a:rPr>
              <a:t>Steps: 5,000 (25%) | Learning rate: 3×10⁻⁵ | Time: 52 min | From </a:t>
            </a:r>
            <a:r>
              <a:rPr sz="1400" dirty="0" err="1">
                <a:solidFill>
                  <a:schemeClr val="tx1"/>
                </a:solidFill>
              </a:rPr>
              <a:t>Crazyflie</a:t>
            </a:r>
            <a:endParaRPr sz="1400" dirty="0">
              <a:solidFill>
                <a:schemeClr val="tx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0" y="4114800"/>
            <a:ext cx="0" cy="4572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4572000"/>
            <a:ext cx="7315200" cy="13716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2400" dirty="0">
                <a:solidFill>
                  <a:schemeClr val="tx1"/>
                </a:solidFill>
              </a:rPr>
              <a:t>Phase 3: Generic Quadrotor (2.500 kg) - Fine-Tuning</a:t>
            </a:r>
          </a:p>
          <a:p>
            <a:pPr algn="ctr">
              <a:defRPr sz="1100"/>
            </a:pPr>
            <a:r>
              <a:rPr sz="1600" dirty="0">
                <a:solidFill>
                  <a:schemeClr val="tx1"/>
                </a:solidFill>
              </a:rPr>
              <a:t>Steps: 5,000 (25%) | Learning rate: 3×10⁻⁵ | Time: 52 min | From Racing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5943600"/>
            <a:ext cx="0" cy="4572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6400800"/>
            <a:ext cx="7315200" cy="1371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sz="2400" dirty="0">
                <a:solidFill>
                  <a:schemeClr val="tx1"/>
                </a:solidFill>
              </a:rPr>
              <a:t>Phase 4: Heavy-Lift Hexarotor (5.500 kg) - Fine-Tuning</a:t>
            </a:r>
          </a:p>
          <a:p>
            <a:pPr algn="ctr">
              <a:defRPr sz="1100"/>
            </a:pPr>
            <a:r>
              <a:rPr sz="1600" dirty="0">
                <a:solidFill>
                  <a:schemeClr val="tx1"/>
                </a:solidFill>
              </a:rPr>
              <a:t>Steps: 5,000 (25%) | Learning rate: 3×10⁻⁵ | Time: 59 min | From Generic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7772400"/>
            <a:ext cx="0" cy="4572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8229600"/>
            <a:ext cx="7315200" cy="15544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508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Summary: Efficiency Gains</a:t>
            </a:r>
          </a:p>
          <a:p>
            <a:pPr algn="ctr">
              <a:defRPr sz="1100"/>
            </a:pPr>
            <a:r>
              <a:rPr sz="2000" dirty="0">
                <a:solidFill>
                  <a:schemeClr val="tx1"/>
                </a:solidFill>
              </a:rPr>
              <a:t>Without Transfer: 80,000 steps, 828 min | With Transfer: 35,000 steps, 363 min</a:t>
            </a:r>
          </a:p>
          <a:p>
            <a:pPr algn="ctr">
              <a:defRPr sz="1200" b="1"/>
            </a:pPr>
            <a:r>
              <a:rPr sz="2000" dirty="0">
                <a:solidFill>
                  <a:schemeClr val="tx1"/>
                </a:solidFill>
              </a:rPr>
              <a:t>✓ 75% step reduction  ✓ </a:t>
            </a:r>
            <a:r>
              <a:rPr lang="en-GB" sz="2000" dirty="0">
                <a:solidFill>
                  <a:schemeClr val="tx1"/>
                </a:solidFill>
              </a:rPr>
              <a:t>56.2%-time</a:t>
            </a:r>
            <a:r>
              <a:rPr sz="2000" dirty="0">
                <a:solidFill>
                  <a:schemeClr val="tx1"/>
                </a:solidFill>
              </a:rPr>
              <a:t> savings  ✓ 1.34±0.01m RMSE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164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Manan Khan</cp:lastModifiedBy>
  <cp:revision>5</cp:revision>
  <dcterms:created xsi:type="dcterms:W3CDTF">2013-01-27T09:14:16Z</dcterms:created>
  <dcterms:modified xsi:type="dcterms:W3CDTF">2025-11-15T19:28:42Z</dcterms:modified>
  <cp:category/>
</cp:coreProperties>
</file>