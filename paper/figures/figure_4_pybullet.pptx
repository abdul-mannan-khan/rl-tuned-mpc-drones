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PyBullet UAV Simulation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13716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Control Input u(t)</a:t>
            </a:r>
          </a:p>
          <a:p>
            <a:pPr algn="ctr">
              <a:defRPr sz="1000"/>
            </a:pPr>
            <a:r>
              <a:t>4D: Thrust, Roll/</a:t>
            </a:r>
            <a:br/>
            <a:r>
              <a:t>Pitch/Yaw 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3291840" cy="137160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Quadrotor UAV</a:t>
            </a:r>
          </a:p>
          <a:p>
            <a:pPr algn="ctr">
              <a:defRPr sz="1000"/>
            </a:pPr>
            <a:r>
              <a:t>4 Motors + Propellers | Body: Mass &amp; Inertia | 6-DOF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097280"/>
            <a:ext cx="2011680" cy="1371600"/>
          </a:xfrm>
          <a:prstGeom prst="roundRect">
            <a:avLst/>
          </a:prstGeom>
          <a:solidFill>
            <a:srgbClr val="E1F5FE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PyBullet Physics</a:t>
            </a:r>
          </a:p>
          <a:p>
            <a:pPr algn="ctr">
              <a:defRPr sz="1000"/>
            </a:pPr>
            <a:r>
              <a:t>RK4, Δt=1ms</a:t>
            </a:r>
            <a:br/>
            <a:r>
              <a:t>240Hz, Rigid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926080"/>
            <a:ext cx="2011680" cy="1188720"/>
          </a:xfrm>
          <a:prstGeom prst="roundRect">
            <a:avLst/>
          </a:prstGeom>
          <a:solidFill>
            <a:srgbClr val="F3E5F5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Environment</a:t>
            </a:r>
          </a:p>
          <a:p>
            <a:pPr algn="ctr">
              <a:defRPr sz="1000"/>
            </a:pPr>
            <a:r>
              <a:t>Aero drag, Ground</a:t>
            </a:r>
            <a:br/>
            <a:r>
              <a:t>effect, Collision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926080"/>
            <a:ext cx="3291840" cy="13716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State Vector x(t)</a:t>
            </a:r>
          </a:p>
          <a:p>
            <a:pPr algn="ctr">
              <a:defRPr sz="1000"/>
            </a:pPr>
            <a:r>
              <a:t>12D: Position, Velocity, Angles,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011680" cy="1097280"/>
          </a:xfrm>
          <a:prstGeom prst="roundRect">
            <a:avLst/>
          </a:prstGeom>
          <a:solidFill>
            <a:srgbClr val="FFF9C4"/>
          </a:solidFill>
          <a:ln w="381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Feedback Loop</a:t>
            </a:r>
          </a:p>
          <a:p>
            <a:pPr algn="ctr">
              <a:defRPr sz="1000"/>
            </a:pPr>
            <a:r>
              <a:t>Error e(t)</a:t>
            </a:r>
            <a:br/>
            <a:r>
              <a:t>To MPC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1737360"/>
            <a:ext cx="45720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17920" y="1737360"/>
            <a:ext cx="45720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80960" y="2468880"/>
            <a:ext cx="0" cy="45720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217920" y="3474720"/>
            <a:ext cx="45720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68880" y="3474720"/>
            <a:ext cx="45720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63040" y="2468880"/>
            <a:ext cx="0" cy="45720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5029200"/>
            <a:ext cx="274320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Platform Parameters</a:t>
            </a:r>
          </a:p>
          <a:p>
            <a:pPr algn="ctr">
              <a:defRPr sz="900"/>
            </a:pPr>
            <a:r>
              <a:t>Mass: 0.027-5.5 kg (200×)</a:t>
            </a:r>
            <a:br/>
            <a:r>
              <a:t>Inertia: 6000× variation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5029200"/>
            <a:ext cx="274320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Simulation Fidelity</a:t>
            </a:r>
          </a:p>
          <a:p>
            <a:pPr algn="ctr">
              <a:defRPr sz="900"/>
            </a:pPr>
            <a:r>
              <a:t>High-fidelity 3D simulation</a:t>
            </a:r>
            <a:br/>
            <a:r>
              <a:t>Sim-to-real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5029200"/>
            <a:ext cx="274320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Realistic Physics</a:t>
            </a:r>
          </a:p>
          <a:p>
            <a:pPr algn="ctr">
              <a:defRPr sz="900"/>
            </a:pPr>
            <a:r>
              <a:t>Validated dynamics</a:t>
            </a:r>
            <a:br/>
            <a:r>
              <a:t>Ground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